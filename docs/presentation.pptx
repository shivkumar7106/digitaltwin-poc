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DIGITAL TWIN POC FOR PREDICTIVE HEALTHCARE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Forecasting Glucose Spikes &amp; Assessing Cardiovascular Risk via Multi-Modal Sensor-EHR Fusion</a:t>
            </a:r>
          </a:p>
          <a:p>
            <a:br/>
            <a:pPr>
              <a:defRPr sz="1400">
                <a:solidFill>
                  <a:srgbClr val="646E82"/>
                </a:solidFill>
              </a:defRPr>
            </a:pPr>
            <a:r>
              <a:t>Happiest Health Reimagining &amp; Reforming Healthcare in India Summit - 2026, Bengaluru</a:t>
            </a:r>
            <a:br/>
            <a:r>
              <a:t>Team: Team DigitalTwin | Student Innovation Incubator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HAPPIEST HEALTH SUMMIT 2026</a:t>
            </a:r>
          </a:p>
          <a:p>
            <a:pPr>
              <a:defRPr sz="2400" b="1">
                <a:solidFill>
                  <a:srgbClr val="141E32"/>
                </a:solidFill>
              </a:defRPr>
            </a:pPr>
            <a:r>
              <a:t>Problem Statement: The Reactive-to-Proactive Shift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The Dual Chronic Epidemic: </a:t>
            </a:r>
            <a:r>
              <a:rPr b="0">
                <a:solidFill>
                  <a:srgbClr val="282828"/>
                </a:solidFill>
              </a:rPr>
              <a:t>India has over 101M individuals diagnosed with Type 2 Diabetes and 315M with Hypertension (ICMR-INDIAB).</a:t>
            </a:r>
          </a:p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South Asian Phenotype: </a:t>
            </a:r>
            <a:r>
              <a:rPr b="0">
                <a:solidFill>
                  <a:srgbClr val="282828"/>
                </a:solidFill>
              </a:rPr>
              <a:t>Earlier onset at lower BMI thresholds ('thin-fat phenotype'), accelerating cardiovascular comorbidities.</a:t>
            </a:r>
          </a:p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Limitations of Current Medicine: </a:t>
            </a:r>
            <a:r>
              <a:rPr b="0">
                <a:solidFill>
                  <a:srgbClr val="282828"/>
                </a:solidFill>
              </a:rPr>
              <a:t>Reactive episodic consultations occur only after organ damage has already started.</a:t>
            </a:r>
          </a:p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The Digital Twin Vision: </a:t>
            </a:r>
            <a:r>
              <a:rPr b="0">
                <a:solidFill>
                  <a:srgbClr val="282828"/>
                </a:solidFill>
              </a:rPr>
              <a:t>A dynamic virtual replica of the patient ingesting real-time wearable telemetry alongside longitudinal EHR records to preempt adverse events.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HAPPIEST HEALTH SUMMIT 2026</a:t>
            </a:r>
          </a:p>
          <a:p>
            <a:pPr>
              <a:defRPr sz="2400" b="1">
                <a:solidFill>
                  <a:srgbClr val="141E32"/>
                </a:solidFill>
              </a:defRPr>
            </a:pPr>
            <a:r>
              <a:t>Multi-Modal Architecture: Ingestion &amp; Privacy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Stream 1: Static EHR Telemetry </a:t>
            </a:r>
            <a:r>
              <a:rPr b="0">
                <a:solidFill>
                  <a:srgbClr val="282828"/>
                </a:solidFill>
              </a:rPr>
              <a:t>Synthetic longitudinal clinical cohort (500 Indian patients), demographics, comorbidities, medications, and quarterly lab panels (HbA1c, fasting glucose, lipid profiles, eGFR).</a:t>
            </a:r>
          </a:p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Stream 2: Dynamic Wearable Streams </a:t>
            </a:r>
            <a:r>
              <a:rPr b="0">
                <a:solidFill>
                  <a:srgbClr val="282828"/>
                </a:solidFill>
              </a:rPr>
              <a:t>Continuous Glucose Monitor (5-min intervals), continuous heart rate and HRV (RMSSD/SDNN), sleep architecture hypnograms, and hourly step counts.</a:t>
            </a:r>
          </a:p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Sandbox &amp; Privacy Rules: </a:t>
            </a:r>
            <a:r>
              <a:rPr b="0">
                <a:solidFill>
                  <a:srgbClr val="282828"/>
                </a:solidFill>
              </a:rPr>
              <a:t>100% compliant with India's DPDP Act and HIPAA using synthetic generators parameterized on authentic clinical distributions.</a:t>
            </a:r>
          </a:p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Continuous Synchronization: </a:t>
            </a:r>
            <a:r>
              <a:rPr b="0">
                <a:solidFill>
                  <a:srgbClr val="282828"/>
                </a:solidFill>
              </a:rPr>
              <a:t>Real-time state ingestion updating the virtual patient's metabolic and hemodynamic state buffers.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HAPPIEST HEALTH SUMMIT 2026</a:t>
            </a:r>
          </a:p>
          <a:p>
            <a:pPr>
              <a:defRPr sz="2400" b="1">
                <a:solidFill>
                  <a:srgbClr val="141E32"/>
                </a:solidFill>
              </a:defRPr>
            </a:pPr>
            <a:r>
              <a:t>Predictive Engine: BiLSTM + Attention, XGBoost &amp; Neural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• 1. BiLSTM with Self-Attention (Glucose Spike Forecasting): </a:t>
            </a:r>
            <a:r>
              <a:rPr b="0">
                <a:solidFill>
                  <a:srgbClr val="282828"/>
                </a:solidFill>
              </a:rPr>
              <a:t>Ingests 6-hour sliding windows (72 steps) to predict the next 2-hour trajectory (24 steps), forecasting spikes before onset.</a:t>
            </a:r>
          </a:p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• 2. XGBoost with SHAP (ASCVD 10-Year Risk): </a:t>
            </a:r>
            <a:r>
              <a:rPr b="0">
                <a:solidFill>
                  <a:srgbClr val="282828"/>
                </a:solidFill>
              </a:rPr>
              <a:t>Combines static clinical history with wearable biometric metrics (resting HR, nocturnal HRV, sleep efficiency) to predict cardiovascular risk with explainable attribution.</a:t>
            </a:r>
          </a:p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• 3. Multi-Modal Intermediate Fusion Neural Network: </a:t>
            </a:r>
            <a:r>
              <a:rPr b="0">
                <a:solidFill>
                  <a:srgbClr val="282828"/>
                </a:solidFill>
              </a:rPr>
              <a:t>A hybrid dual-branch architecture (temporal LSTM branch + static MLP branch) learning joint cross-modal risk representations.</a:t>
            </a:r>
          </a:p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• 4. Clinical Alert Manager: </a:t>
            </a:r>
            <a:r>
              <a:rPr b="0">
                <a:solidFill>
                  <a:srgbClr val="282828"/>
                </a:solidFill>
              </a:rPr>
              <a:t>Intelligent hysteresis debouncing across 4 triage tiers (Critical, High, Moderate, Info) to prevent alarm fatigue.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HAPPIEST HEALTH SUMMIT 2026</a:t>
            </a:r>
          </a:p>
          <a:p>
            <a:pPr>
              <a:defRPr sz="2400" b="1">
                <a:solidFill>
                  <a:srgbClr val="141E32"/>
                </a:solidFill>
              </a:defRPr>
            </a:pPr>
            <a:r>
              <a:t>Clinical Validation &amp; Quantitative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Glucose Prediction Metrics:</a:t>
            </a:r>
          </a:p>
          <a:p>
            <a:pPr>
              <a:defRPr b="1" sz="1400">
                <a:solidFill>
                  <a:srgbClr val="282828"/>
                </a:solidFill>
              </a:defRPr>
            </a:pPr>
            <a:r>
              <a:t>  • Clarke Error Grid (A+B): </a:t>
            </a:r>
            <a:r>
              <a:rPr b="1">
                <a:solidFill>
                  <a:srgbClr val="008000"/>
                </a:solidFill>
              </a:rPr>
              <a:t>99.60% (Exceeds &gt;95% clinical standard)</a:t>
            </a:r>
          </a:p>
          <a:p>
            <a:pPr>
              <a:defRPr b="1" sz="1400">
                <a:solidFill>
                  <a:srgbClr val="282828"/>
                </a:solidFill>
              </a:defRPr>
            </a:pPr>
            <a:r>
              <a:t>  • MARD (Device Accuracy): </a:t>
            </a:r>
            <a:r>
              <a:rPr b="1">
                <a:solidFill>
                  <a:srgbClr val="008000"/>
                </a:solidFill>
              </a:rPr>
              <a:t>7.47% (Target &lt;10%)</a:t>
            </a:r>
          </a:p>
          <a:p>
            <a:pPr>
              <a:defRPr b="1" sz="1400">
                <a:solidFill>
                  <a:srgbClr val="282828"/>
                </a:solidFill>
              </a:defRPr>
            </a:pPr>
            <a:r>
              <a:t>  • RMSE / MAE: </a:t>
            </a:r>
            <a:r>
              <a:rPr b="1">
                <a:solidFill>
                  <a:srgbClr val="008000"/>
                </a:solidFill>
              </a:rPr>
              <a:t>10.31 mg/dL / 8.36 mg/dL</a:t>
            </a:r>
          </a:p>
          <a:p>
            <a:pPr>
              <a:defRPr b="1" sz="1400">
                <a:solidFill>
                  <a:srgbClr val="0066CC"/>
                </a:solidFill>
              </a:defRPr>
            </a:pPr>
            <a:r>
              <a:t>Cardiovascular Risk Metrics:</a:t>
            </a:r>
          </a:p>
          <a:p>
            <a:pPr>
              <a:defRPr b="1" sz="1400">
                <a:solidFill>
                  <a:srgbClr val="282828"/>
                </a:solidFill>
              </a:defRPr>
            </a:pPr>
            <a:r>
              <a:t>  • AUC-ROC: </a:t>
            </a:r>
            <a:r>
              <a:rPr b="1">
                <a:solidFill>
                  <a:srgbClr val="008000"/>
                </a:solidFill>
              </a:rPr>
              <a:t>0.965</a:t>
            </a:r>
          </a:p>
          <a:p>
            <a:pPr>
              <a:defRPr b="1" sz="1400">
                <a:solidFill>
                  <a:srgbClr val="282828"/>
                </a:solidFill>
              </a:defRPr>
            </a:pPr>
            <a:r>
              <a:t>  • PR-AUC: </a:t>
            </a:r>
            <a:r>
              <a:rPr b="1">
                <a:solidFill>
                  <a:srgbClr val="008000"/>
                </a:solidFill>
              </a:rPr>
              <a:t>0.968</a:t>
            </a:r>
          </a:p>
          <a:p>
            <a:pPr>
              <a:defRPr b="1" sz="1400">
                <a:solidFill>
                  <a:srgbClr val="282828"/>
                </a:solidFill>
              </a:defRPr>
            </a:pPr>
            <a:r>
              <a:t>  • Sensitivity / Specificity: </a:t>
            </a:r>
            <a:r>
              <a:rPr b="1">
                <a:solidFill>
                  <a:srgbClr val="008000"/>
                </a:solidFill>
              </a:rPr>
              <a:t>89.80% / 89.39%</a:t>
            </a:r>
          </a:p>
          <a:p>
            <a:pPr>
              <a:defRPr b="1" sz="1400">
                <a:solidFill>
                  <a:srgbClr val="282828"/>
                </a:solidFill>
              </a:defRPr>
            </a:pPr>
            <a:r>
              <a:t>  • F1 Score: </a:t>
            </a:r>
            <a:r>
              <a:rPr b="1">
                <a:solidFill>
                  <a:srgbClr val="008000"/>
                </a:solidFill>
              </a:rPr>
              <a:t>0.8980</a:t>
            </a:r>
          </a:p>
        </p:txBody>
      </p:sp>
      <p:pic>
        <p:nvPicPr>
          <p:cNvPr id="4" name="Picture 3" descr="clarke_erro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2560320" cy="2560320"/>
          </a:xfrm>
          <a:prstGeom prst="rect">
            <a:avLst/>
          </a:prstGeom>
        </p:spPr>
      </p:pic>
      <p:pic>
        <p:nvPicPr>
          <p:cNvPr id="5" name="Picture 4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645920"/>
            <a:ext cx="256032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HAPPIEST HEALTH SUMMIT 2026</a:t>
            </a:r>
          </a:p>
          <a:p>
            <a:pPr>
              <a:defRPr sz="2400" b="1">
                <a:solidFill>
                  <a:srgbClr val="141E32"/>
                </a:solidFill>
              </a:defRPr>
            </a:pPr>
            <a:r>
              <a:t>Clinician Interface &amp; What-If Counterfactual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• Dynamic Patient Roster: </a:t>
            </a:r>
            <a:r>
              <a:rPr b="0">
                <a:solidFill>
                  <a:srgbClr val="282828"/>
                </a:solidFill>
              </a:rPr>
              <a:t>Instant retrieval of clinical twins with live vitals, condition histories, and longitudinal telemetry.</a:t>
            </a:r>
          </a:p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• Continuous Glycemic Timeline: </a:t>
            </a:r>
            <a:r>
              <a:rPr b="0">
                <a:solidFill>
                  <a:srgbClr val="282828"/>
                </a:solidFill>
              </a:rPr>
              <a:t>Observed CGM signals paired with 2-hour predictive trajectory bands and early alert indicators.</a:t>
            </a:r>
          </a:p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• ASCVD Risk &amp; SHAP Explainability: </a:t>
            </a:r>
            <a:r>
              <a:rPr b="0">
                <a:solidFill>
                  <a:srgbClr val="282828"/>
                </a:solidFill>
              </a:rPr>
              <a:t>Identifies top contributing risk drivers per patient (e.g. nocturnal BP non-dipping, elevated HbA1c, smoking).</a:t>
            </a:r>
          </a:p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• Interactive 'What-If' Simulation: </a:t>
            </a:r>
            <a:r>
              <a:rPr b="0">
                <a:solidFill>
                  <a:srgbClr val="282828"/>
                </a:solidFill>
              </a:rPr>
              <a:t>Allows doctors to simulate pharmacological and lifestyle interventions (e.g. 30 min daily exercise + SGLT2i titration) and view modeled risk drops.</a:t>
            </a:r>
          </a:p>
          <a:p/>
          <a:p>
            <a:pPr>
              <a:defRPr b="1" sz="1400">
                <a:solidFill>
                  <a:srgbClr val="0066CC"/>
                </a:solidFill>
              </a:defRPr>
            </a:pPr>
            <a:r>
              <a:t>• Operational Deployment: </a:t>
            </a:r>
            <a:r>
              <a:rPr b="0">
                <a:solidFill>
                  <a:srgbClr val="282828"/>
                </a:solidFill>
              </a:rPr>
              <a:t>Streamlit application served at http://localhost:8501.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HAPPIEST HEALTH SUMMIT 2026</a:t>
            </a:r>
          </a:p>
          <a:p>
            <a:pPr>
              <a:defRPr sz="2400" b="1">
                <a:solidFill>
                  <a:srgbClr val="141E32"/>
                </a:solidFill>
              </a:defRPr>
            </a:pPr>
            <a:r>
              <a:t>Impact &amp; Roadmap for Indian Healthcare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Clinical Efficacy: </a:t>
            </a:r>
            <a:r>
              <a:rPr b="0">
                <a:solidFill>
                  <a:srgbClr val="282828"/>
                </a:solidFill>
              </a:rPr>
              <a:t>Transitioning Indian chronic care from reactive firefighting to automated 2-hour early warning interventions.</a:t>
            </a:r>
          </a:p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Affordability &amp; Accessibility: </a:t>
            </a:r>
            <a:r>
              <a:rPr b="0">
                <a:solidFill>
                  <a:srgbClr val="282828"/>
                </a:solidFill>
              </a:rPr>
              <a:t>Engineered to run seamlessly on consumer-tier wearable telemetry and open-source clinical models.</a:t>
            </a:r>
          </a:p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Summit Showcase - November 2026: </a:t>
            </a:r>
            <a:r>
              <a:rPr b="0">
                <a:solidFill>
                  <a:srgbClr val="282828"/>
                </a:solidFill>
              </a:rPr>
              <a:t>Ready for stage demo at the Bengaluru summit with end-to-end multi-modal data streaming and clinician dashboard.</a:t>
            </a:r>
          </a:p>
          <a:p/>
          <a:p>
            <a:pPr>
              <a:defRPr b="1" sz="1500">
                <a:solidFill>
                  <a:srgbClr val="0066CC"/>
                </a:solidFill>
              </a:defRPr>
            </a:pPr>
            <a:r>
              <a:t>• Open Source Availability: </a:t>
            </a:r>
            <a:r>
              <a:rPr b="0">
                <a:solidFill>
                  <a:srgbClr val="282828"/>
                </a:solidFill>
              </a:rPr>
              <a:t>Fully reproducible codebase with unit testing, synthetic dataset generator, and complete documentation under MIT License.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